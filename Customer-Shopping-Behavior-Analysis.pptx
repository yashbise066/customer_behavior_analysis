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pilogue"/>
      <p:regular r:id="rId201314"/>
    </p:embeddedFont>
    <p:embeddedFont>
      <p:font typeface="Epilogue Medium"/>
      <p:regular r:id="rId201315"/>
    </p:embeddedFont>
    <p:embeddedFont>
      <p:font typeface="Epilogue Bold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3,900 purchases • 18 columns • goal: uncover patterns to guide strategy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931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67260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5626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971304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3,900 rows •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67260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5626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971304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Age, Gender, Location, Item, Category, Amount, Season, Rating, Subscription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629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8669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5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Exploratory Data Analysis (Python)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718370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1970286"/>
            <a:ext cx="6296860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2088059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Load &amp; Inspect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2417862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pandas: df.info(), .describe()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290710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3159026"/>
            <a:ext cx="6296860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3276798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Missing Handling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61475" y="3606602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Imputed Review Rating by category median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409584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347766"/>
            <a:ext cx="6296860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465538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Standardize &amp; Engineer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61475" y="4795341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snake_case columns; age_group; purchase_frequency_days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1475" y="528458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61475" y="5536505"/>
            <a:ext cx="6296860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654278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DB Integration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61475" y="5984081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Loaded cleaned DataFrame into PostgreSQL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803499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Revenue by Gender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3173809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Male: 157,890 • Female: 75,191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688854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28315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3962896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6499" y="3906143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Male-driven revenue larger; explore targeting opportunities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413073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Discounts &amp; High Spenders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783384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839 rows flagged: used discount yet spent above average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600847"/>
            <a:ext cx="3504219" cy="1820366"/>
          </a:xfrm>
          <a:prstGeom prst="roundRect">
            <a:avLst>
              <a:gd name="adj" fmla="val 4361"/>
            </a:avLst>
          </a:prstGeom>
          <a:solidFill>
            <a:srgbClr val="080E26"/>
          </a:solidFill>
          <a:ln w="25399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46658" y="3815259"/>
            <a:ext cx="30754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examples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246658" y="4299545"/>
            <a:ext cx="30754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customers with purchase_amounts: 64, 73, 90, 85, 97...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57920"/>
            <a:ext cx="6956251" cy="39419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3829" y="641449"/>
            <a:ext cx="3602642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Products by Rating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3829" y="1134269"/>
            <a:ext cx="317492" cy="31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3829" y="1558429"/>
            <a:ext cx="360264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Gloves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933829" y="1842195"/>
            <a:ext cx="3602642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rating 3.86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3829" y="2182713"/>
            <a:ext cx="317492" cy="317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33829" y="2606873"/>
            <a:ext cx="360264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Sandals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933829" y="2890639"/>
            <a:ext cx="3602642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rating 3.84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3829" y="3231158"/>
            <a:ext cx="317492" cy="317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33829" y="3655318"/>
            <a:ext cx="360264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Boots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7933829" y="3939084"/>
            <a:ext cx="3602642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rating 3.82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3829" y="4279602"/>
            <a:ext cx="317492" cy="3175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33829" y="4703763"/>
            <a:ext cx="360264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Hat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7933829" y="4987528"/>
            <a:ext cx="3602642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rating 3.80</a:t>
            </a:r>
            <a:endParaRPr lang="en-US" sz="9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33829" y="5328047"/>
            <a:ext cx="317492" cy="3175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933829" y="5752207"/>
            <a:ext cx="360264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Skirt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933829" y="6035973"/>
            <a:ext cx="3602642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rating 3.78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675904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Shipping &amp; Subscriptions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3046214"/>
            <a:ext cx="3504219" cy="2154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purchase: Standard $58.46 • Express $60.48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Subscribers: 1,053 — avg spend $59.49 • Total rev $62,645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Non-subscribers: 2,847 — avg spend $59.87 • Total rev $170,436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Loyal: 3,116 • Returning: 701 • New: 83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Recommendation: reward repeat buyers to grow Loyal segment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299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708819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Categories &amp; Products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51" y="2102743"/>
            <a:ext cx="770910" cy="9636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39396" y="2102743"/>
            <a:ext cx="24970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Clothing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039396" y="2587030"/>
            <a:ext cx="24970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Revenue ≈ 100K • Top: Blouse, Pants, Shirt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3569891"/>
            <a:ext cx="770910" cy="9636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39396" y="3569891"/>
            <a:ext cx="24970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Accessories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039396" y="4054177"/>
            <a:ext cx="24970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Revenue ≈ 75K • Top: Jewelry, Sunglasses, Belt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5037038"/>
            <a:ext cx="770910" cy="9636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39396" y="5037038"/>
            <a:ext cx="249707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Footwear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039396" y="5521325"/>
            <a:ext cx="24970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Revenue ≈ 30K • Top: Sandals, Shoes, Sneakers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0897"/>
            <a:ext cx="6946131" cy="39362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2482" y="627261"/>
            <a:ext cx="3583989" cy="86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7952482" y="1609427"/>
            <a:ext cx="3583989" cy="801688"/>
          </a:xfrm>
          <a:prstGeom prst="roundRect">
            <a:avLst>
              <a:gd name="adj" fmla="val 7272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7635" y="1754584"/>
            <a:ext cx="329368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97635" y="2073374"/>
            <a:ext cx="3293682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Promote exclusive subscriber benefits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952482" y="2513013"/>
            <a:ext cx="3583989" cy="801688"/>
          </a:xfrm>
          <a:prstGeom prst="roundRect">
            <a:avLst>
              <a:gd name="adj" fmla="val 7272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7635" y="2658170"/>
            <a:ext cx="329368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97635" y="2976959"/>
            <a:ext cx="3293682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Reward repeat buyers to increase loyalty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52482" y="3416598"/>
            <a:ext cx="3583989" cy="801688"/>
          </a:xfrm>
          <a:prstGeom prst="roundRect">
            <a:avLst>
              <a:gd name="adj" fmla="val 7272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7635" y="3561755"/>
            <a:ext cx="329368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97635" y="3880545"/>
            <a:ext cx="3293682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Balance promotions with margin control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52482" y="4320183"/>
            <a:ext cx="3583989" cy="801688"/>
          </a:xfrm>
          <a:prstGeom prst="roundRect">
            <a:avLst>
              <a:gd name="adj" fmla="val 7272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7635" y="4465340"/>
            <a:ext cx="329368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97635" y="4784130"/>
            <a:ext cx="3293682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Feature top-rated and best-selling items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52482" y="5223768"/>
            <a:ext cx="3583989" cy="994271"/>
          </a:xfrm>
          <a:prstGeom prst="roundRect">
            <a:avLst>
              <a:gd name="adj" fmla="val 586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7635" y="5368925"/>
            <a:ext cx="3293682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97635" y="5687715"/>
            <a:ext cx="3293682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Focus on high-revenue age groups &amp; express-shipping users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2026-08-30T14:39:19Z</dcterms:created>
  <dcterms:modified xsi:type="dcterms:W3CDTF">2026-08-30T14:39:19Z</dcterms:modified>
</cp:coreProperties>
</file>